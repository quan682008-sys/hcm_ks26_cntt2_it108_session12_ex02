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963D"/>
          </a:solidFill>
          <a:ln w="12700">
            <a:solidFill>
              <a:srgbClr val="FF9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10972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PTIT-Learning giúp sinh viên học mọi nơi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7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lớp học ảo  |  Báo cáo đề xuất tính năng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12648" y="1627632"/>
            <a:ext cx="10972800" cy="0"/>
          </a:xfrm>
          <a:prstGeom prst="line">
            <a:avLst/>
          </a:prstGeom>
          <a:noFill/>
          <a:ln w="12700">
            <a:solidFill>
              <a:srgbClr val="4762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5740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193754"/>
          </a:solidFill>
          <a:ln w="12700">
            <a:solidFill>
              <a:srgbClr val="3452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40280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9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Truy cập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nhập, chọn khóa học và ghi danh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61688" y="205740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193754"/>
          </a:solidFill>
          <a:ln w="12700">
            <a:solidFill>
              <a:srgbClr val="3452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2240280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9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Tương tác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4590288" y="288036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Tham gia lớp học, chat và gửi bài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037576" y="205740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193754"/>
          </a:solidFill>
          <a:ln w="12700">
            <a:solidFill>
              <a:srgbClr val="3452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6176" y="2240280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9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Theo dõi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8266176" y="288036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danh, xem tiến độ và kết quả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4088" y="6080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7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  •  WHITE  •  ORANGE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963D"/>
          </a:solidFill>
          <a:ln w="12700">
            <a:solidFill>
              <a:srgbClr val="FF9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10972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Lộ trình học tập gồm 5 bước nối tiếp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7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Flowchart 3 vùng: đầu vào — quá trình — đầu ra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12648" y="1627632"/>
            <a:ext cx="10972800" cy="0"/>
          </a:xfrm>
          <a:prstGeom prst="line">
            <a:avLst/>
          </a:prstGeom>
          <a:noFill/>
          <a:ln w="12700">
            <a:solidFill>
              <a:srgbClr val="4762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2788920"/>
            <a:ext cx="2002536" cy="1143000"/>
          </a:xfrm>
          <a:prstGeom prst="roundRect">
            <a:avLst>
              <a:gd name="adj" fmla="val 6400"/>
            </a:avLst>
          </a:prstGeom>
          <a:solidFill>
            <a:srgbClr val="193754"/>
          </a:solidFill>
          <a:ln w="25400">
            <a:solidFill>
              <a:srgbClr val="5C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990088"/>
            <a:ext cx="17556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nhập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651760" y="297180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9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953512" y="2788920"/>
            <a:ext cx="2002536" cy="1143000"/>
          </a:xfrm>
          <a:prstGeom prst="roundRect">
            <a:avLst>
              <a:gd name="adj" fmla="val 6400"/>
            </a:avLst>
          </a:prstGeom>
          <a:solidFill>
            <a:srgbClr val="193754"/>
          </a:solidFill>
          <a:ln w="25400">
            <a:solidFill>
              <a:srgbClr val="5C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72384" y="2990088"/>
            <a:ext cx="17556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khóa học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992624" y="297180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9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294376" y="2788920"/>
            <a:ext cx="2002536" cy="1143000"/>
          </a:xfrm>
          <a:prstGeom prst="roundRect">
            <a:avLst>
              <a:gd name="adj" fmla="val 6400"/>
            </a:avLst>
          </a:prstGeom>
          <a:solidFill>
            <a:srgbClr val="FF963D"/>
          </a:solidFill>
          <a:ln w="25400">
            <a:solidFill>
              <a:srgbClr val="FF9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13248" y="2990088"/>
            <a:ext cx="17556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Tham gia lớp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333488" y="297180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9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635240" y="2788920"/>
            <a:ext cx="2002536" cy="1143000"/>
          </a:xfrm>
          <a:prstGeom prst="roundRect">
            <a:avLst>
              <a:gd name="adj" fmla="val 6400"/>
            </a:avLst>
          </a:prstGeom>
          <a:solidFill>
            <a:srgbClr val="193754"/>
          </a:solidFill>
          <a:ln w="25400">
            <a:solidFill>
              <a:srgbClr val="5C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54112" y="2990088"/>
            <a:ext cx="17556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Nộp bài / kiểm tra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674352" y="297180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9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9976104" y="2788920"/>
            <a:ext cx="2002536" cy="1143000"/>
          </a:xfrm>
          <a:prstGeom prst="roundRect">
            <a:avLst>
              <a:gd name="adj" fmla="val 6400"/>
            </a:avLst>
          </a:prstGeom>
          <a:solidFill>
            <a:srgbClr val="193754"/>
          </a:solidFill>
          <a:ln w="25400">
            <a:solidFill>
              <a:srgbClr val="5C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94976" y="2990088"/>
            <a:ext cx="17556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Xem tiến độ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40080" y="20025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9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VÙNG 1 — ĐẦU VÀO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251960" y="20025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9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VÙNG 2 — QUÁ TRÌNH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326880" y="20025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9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VÙNG 3 — ĐẦU RA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963D"/>
          </a:solidFill>
          <a:ln w="12700">
            <a:solidFill>
              <a:srgbClr val="FF9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10972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được đặc tả bằng 10 yêu cầu chức năng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7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FR-01 → FR-10  |  Quản lý theo Heading 2 trong tài liệu SRS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12648" y="1627632"/>
            <a:ext cx="10972800" cy="0"/>
          </a:xfrm>
          <a:prstGeom prst="line">
            <a:avLst/>
          </a:prstGeom>
          <a:noFill/>
          <a:ln w="12700">
            <a:solidFill>
              <a:srgbClr val="4762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19456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193754"/>
          </a:solidFill>
          <a:ln w="12700">
            <a:solidFill>
              <a:srgbClr val="3452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77440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9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 khoản &amp; danh mục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FR-01: Đăng nhập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FR-02: Tìm kiếm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FR-03: Đăng ký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61688" y="219456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193754"/>
          </a:solidFill>
          <a:ln w="12700">
            <a:solidFill>
              <a:srgbClr val="3452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2377440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9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Trải nghiệm lớp học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4590288" y="301752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FR-04: Vào lớp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FR-05: Tương tác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FR-06: Điểm danh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037576" y="219456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193754"/>
          </a:solidFill>
          <a:ln w="12700">
            <a:solidFill>
              <a:srgbClr val="3452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6176" y="2377440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9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 &amp; báo cáo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8266176" y="301752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FR-07–08: Bài tập, điểm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FR-09–10: Tiến độ, xuất báo cáo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963D"/>
          </a:solidFill>
          <a:ln w="12700">
            <a:solidFill>
              <a:srgbClr val="FF9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10972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Bộ lọc xác định sinh viên CNTT có chuyên cần dưới 7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7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Excel: 200 khóa học  •  300 lượt đăng ký  •  AutoFilter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12648" y="1627632"/>
            <a:ext cx="10972800" cy="0"/>
          </a:xfrm>
          <a:prstGeom prst="line">
            <a:avLst/>
          </a:prstGeom>
          <a:noFill/>
          <a:ln w="12700">
            <a:solidFill>
              <a:srgbClr val="4762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5740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193754"/>
          </a:solidFill>
          <a:ln w="12700">
            <a:solidFill>
              <a:srgbClr val="3452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40280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9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ĐIỀU KIỆN 1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Khoa = CNTT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61688" y="205740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193754"/>
          </a:solidFill>
          <a:ln w="12700">
            <a:solidFill>
              <a:srgbClr val="3452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2240280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9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ĐIỀU KIỆN 2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4590288" y="288036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chuyên cần &lt; 7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037576" y="205740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193754"/>
          </a:solidFill>
          <a:ln w="12700">
            <a:solidFill>
              <a:srgbClr val="3452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6176" y="2240280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9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8266176" y="288036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hiển thị bản ghi thỏa cả 2 điều kiện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51206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 + Shift + L → lọc Khoa → Number Filters → Less Than → 7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963D"/>
          </a:solidFill>
          <a:ln w="12700">
            <a:solidFill>
              <a:srgbClr val="FF9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10972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 xử lý tên sai lệch vì khoảng trắng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7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kiểm thử khi tìm tên sinh viên không ra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12648" y="1627632"/>
            <a:ext cx="10972800" cy="0"/>
          </a:xfrm>
          <a:prstGeom prst="line">
            <a:avLst/>
          </a:prstGeom>
          <a:noFill/>
          <a:ln w="12700">
            <a:solidFill>
              <a:srgbClr val="4762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606040"/>
            <a:ext cx="2651760" cy="1645920"/>
          </a:xfrm>
          <a:prstGeom prst="roundRect">
            <a:avLst/>
          </a:prstGeom>
          <a:solidFill>
            <a:srgbClr val="193754"/>
          </a:solidFill>
          <a:ln w="12700">
            <a:solidFill>
              <a:srgbClr val="4663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78892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95528" y="3328416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tra dữ liệu gốc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547872" y="2606040"/>
            <a:ext cx="2651760" cy="1645920"/>
          </a:xfrm>
          <a:prstGeom prst="roundRect">
            <a:avLst/>
          </a:prstGeom>
          <a:solidFill>
            <a:srgbClr val="193754"/>
          </a:solidFill>
          <a:ln w="12700">
            <a:solidFill>
              <a:srgbClr val="4663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94176" y="278892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703320" y="3328416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cột tên chuẩn hóa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455664" y="2606040"/>
            <a:ext cx="2651760" cy="1645920"/>
          </a:xfrm>
          <a:prstGeom prst="roundRect">
            <a:avLst/>
          </a:prstGeom>
          <a:solidFill>
            <a:srgbClr val="193754"/>
          </a:solidFill>
          <a:ln w="12700">
            <a:solidFill>
              <a:srgbClr val="46637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01968" y="278892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611112" y="3328416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TRIM / CLEAN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9363456" y="2606040"/>
            <a:ext cx="2651760" cy="1645920"/>
          </a:xfrm>
          <a:prstGeom prst="roundRect">
            <a:avLst/>
          </a:prstGeom>
          <a:solidFill>
            <a:srgbClr val="193754"/>
          </a:solidFill>
          <a:ln w="12700">
            <a:solidFill>
              <a:srgbClr val="46637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0" y="278892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518904" y="3328416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Lọc lại trên cột mới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31520" y="50749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9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=TRIM(CLEAN(SUBSTITUTE(C2,CHAR(160)," ")))</a:t>
            </a:r>
            <a:endParaRPr lang="en-US" sz="2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963D"/>
          </a:solidFill>
          <a:ln w="12700">
            <a:solidFill>
              <a:srgbClr val="FF9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10972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Bộ hồ sơ thống nhất giúp quản lý và kiểm thử dễ dàng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7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Nộp bài theo cấu trúc: N26DTCN025_IT108_Session10_Ex02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12648" y="1627632"/>
            <a:ext cx="10972800" cy="0"/>
          </a:xfrm>
          <a:prstGeom prst="line">
            <a:avLst/>
          </a:prstGeom>
          <a:noFill/>
          <a:ln w="12700">
            <a:solidFill>
              <a:srgbClr val="4762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14884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193754"/>
          </a:solidFill>
          <a:ln w="12700">
            <a:solidFill>
              <a:srgbClr val="3452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31720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9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· SRS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Heading 2 và mục lục tự động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61688" y="214884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193754"/>
          </a:solidFill>
          <a:ln w="12700">
            <a:solidFill>
              <a:srgbClr val="3452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2331720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9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· DATA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4590288" y="297180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khóa học; lọc chuyên cần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037576" y="214884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193754"/>
          </a:solidFill>
          <a:ln w="12700">
            <a:solidFill>
              <a:srgbClr val="3452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6176" y="2331720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9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8266176" y="297180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Flowchart và giao diện 3 vùng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IT108 Session10 Ex02</dc:subject>
  <dc:creator>PTIT-Learning</dc:creator>
  <cp:lastModifiedBy>PTIT-Learning</cp:lastModifiedBy>
  <cp:revision>1</cp:revision>
  <dcterms:created xsi:type="dcterms:W3CDTF">2026-10-26T12:42:00Z</dcterms:created>
  <dcterms:modified xsi:type="dcterms:W3CDTF">2026-10-26T12:42:00Z</dcterms:modified>
</cp:coreProperties>
</file>